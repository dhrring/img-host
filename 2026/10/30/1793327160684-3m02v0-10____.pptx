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16" d="100"/>
          <a:sy n="116" d="100"/>
        </p:scale>
        <p:origin x="336" y="10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7" Type="http://schemas.openxmlformats.org/officeDocument/2006/relationships/viewProps" Target="viewProps.xml"/><Relationship Id="rId6" Type="http://schemas.openxmlformats.org/officeDocument/2006/relationships/presProps" Target="presProps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7480" y="0"/>
            <a:ext cx="11628120" cy="6384290"/>
          </a:xfrm>
        </p:spPr>
        <p:txBody>
          <a:bodyPr/>
          <a:p>
            <a:pPr algn="l" fontAlgn="auto">
              <a:lnSpc>
                <a:spcPct val="100000"/>
              </a:lnSpc>
            </a:pPr>
            <a:r>
              <a:rPr lang="en-US" altLang="zh-CN" sz="2800"/>
              <a:t>      ________</a:t>
            </a:r>
            <a:r>
              <a:rPr lang="zh-CN" altLang="en-US" sz="2800"/>
              <a:t>知道</a:t>
            </a:r>
            <a:r>
              <a:rPr lang="en-US" altLang="zh-CN" sz="2800"/>
              <a:t> that our school will hold an event _____________</a:t>
            </a:r>
            <a:r>
              <a:rPr lang="zh-CN" altLang="en-US" sz="2800"/>
              <a:t>主题关于</a:t>
            </a:r>
            <a:r>
              <a:rPr lang="en-US" altLang="zh-CN" sz="2800"/>
              <a:t> </a:t>
            </a:r>
            <a:endParaRPr lang="en-US" altLang="zh-CN" sz="2800"/>
          </a:p>
          <a:p>
            <a:pPr algn="l" fontAlgn="auto">
              <a:lnSpc>
                <a:spcPct val="100000"/>
              </a:lnSpc>
            </a:pPr>
            <a:r>
              <a:rPr lang="en-US" altLang="zh-CN" sz="2800"/>
              <a:t>Tai Chi, I’m writing to invite you to it, _______________ </a:t>
            </a:r>
            <a:r>
              <a:rPr lang="zh-CN" sz="2800"/>
              <a:t>它被安排在下周五</a:t>
            </a:r>
            <a:r>
              <a:rPr lang="en-US" altLang="zh-CN" sz="2800"/>
              <a:t>/ </a:t>
            </a:r>
            <a:endParaRPr lang="en-US" altLang="zh-CN" sz="2800"/>
          </a:p>
          <a:p>
            <a:pPr algn="l" fontAlgn="auto">
              <a:lnSpc>
                <a:spcPct val="100000"/>
              </a:lnSpc>
            </a:pPr>
            <a:r>
              <a:rPr lang="zh-CN" altLang="en-US" sz="2800"/>
              <a:t>它的目的是为了唤醒我们对</a:t>
            </a:r>
            <a:r>
              <a:rPr lang="en-US" altLang="zh-CN" sz="2800"/>
              <a:t>.....</a:t>
            </a:r>
            <a:r>
              <a:rPr lang="zh-CN" altLang="en-US" sz="2800"/>
              <a:t>的热情</a:t>
            </a:r>
            <a:r>
              <a:rPr lang="en-US" altLang="zh-CN" sz="2800"/>
              <a:t> the ___________ practice.</a:t>
            </a:r>
            <a:endParaRPr lang="zh-CN" altLang="en-US" sz="2800"/>
          </a:p>
          <a:p>
            <a:pPr algn="l" fontAlgn="auto">
              <a:lnSpc>
                <a:spcPct val="100000"/>
              </a:lnSpc>
            </a:pPr>
            <a:r>
              <a:rPr lang="zh-CN" altLang="en-US" sz="2800"/>
              <a:t> </a:t>
            </a:r>
            <a:r>
              <a:rPr lang="en-US" altLang="zh-CN" sz="2800"/>
              <a:t>      To begin with, a _________ master will deliver a _______ lecture about Tai </a:t>
            </a:r>
            <a:endParaRPr lang="en-US" altLang="zh-CN" sz="2800"/>
          </a:p>
          <a:p>
            <a:pPr algn="l" fontAlgn="auto">
              <a:lnSpc>
                <a:spcPct val="100000"/>
              </a:lnSpc>
            </a:pPr>
            <a:r>
              <a:rPr lang="en-US" altLang="zh-CN" sz="2800"/>
              <a:t>chi’ history and benefits to our ________ health.  </a:t>
            </a:r>
            <a:r>
              <a:rPr lang="zh-CN" altLang="en-US" sz="2800"/>
              <a:t>倒装句</a:t>
            </a:r>
            <a:r>
              <a:rPr lang="en-US" altLang="zh-CN" sz="2800"/>
              <a:t>: ____________</a:t>
            </a:r>
            <a:r>
              <a:rPr lang="zh-CN" altLang="en-US" sz="2800"/>
              <a:t>接下</a:t>
            </a:r>
            <a:endParaRPr lang="zh-CN" altLang="en-US" sz="2800"/>
          </a:p>
          <a:p>
            <a:pPr algn="l" fontAlgn="auto">
              <a:lnSpc>
                <a:spcPct val="100000"/>
              </a:lnSpc>
            </a:pPr>
            <a:r>
              <a:rPr lang="zh-CN" altLang="en-US" sz="2800"/>
              <a:t>来是</a:t>
            </a:r>
            <a:r>
              <a:rPr lang="en-US" altLang="zh-CN" sz="2800"/>
              <a:t> a ___________demonstration to teach us some ________moves. The </a:t>
            </a:r>
            <a:endParaRPr lang="en-US" altLang="zh-CN" sz="2800"/>
          </a:p>
          <a:p>
            <a:pPr algn="l" fontAlgn="auto">
              <a:lnSpc>
                <a:spcPct val="100000"/>
              </a:lnSpc>
            </a:pPr>
            <a:r>
              <a:rPr lang="en-US" altLang="zh-CN" sz="2800"/>
              <a:t>activity is ______________</a:t>
            </a:r>
            <a:r>
              <a:rPr lang="zh-CN" altLang="en-US" sz="2800"/>
              <a:t>一定很有意义。</a:t>
            </a:r>
            <a:r>
              <a:rPr lang="en-US" altLang="zh-CN" sz="2800"/>
              <a:t> Not only  ___________</a:t>
            </a:r>
            <a:r>
              <a:rPr lang="zh-CN" altLang="en-US" sz="2800"/>
              <a:t>我们可以</a:t>
            </a:r>
            <a:endParaRPr lang="zh-CN" altLang="en-US" sz="2800"/>
          </a:p>
          <a:p>
            <a:pPr algn="l" fontAlgn="auto">
              <a:lnSpc>
                <a:spcPct val="100000"/>
              </a:lnSpc>
            </a:pPr>
            <a:r>
              <a:rPr lang="zh-CN" altLang="en-US" sz="2800"/>
              <a:t>学到</a:t>
            </a:r>
            <a:r>
              <a:rPr lang="en-US" altLang="zh-CN" sz="2800"/>
              <a:t> a __________ way to enhance our physical fitness, but ________</a:t>
            </a:r>
            <a:r>
              <a:rPr lang="zh-CN" altLang="en-US" sz="2800"/>
              <a:t>将</a:t>
            </a:r>
            <a:r>
              <a:rPr lang="zh-CN" altLang="en-US" sz="2800">
                <a:sym typeface="+mn-ea"/>
              </a:rPr>
              <a:t>加深</a:t>
            </a:r>
            <a:endParaRPr lang="zh-CN" altLang="en-US" sz="2800">
              <a:sym typeface="+mn-ea"/>
            </a:endParaRPr>
          </a:p>
          <a:p>
            <a:pPr algn="l" fontAlgn="auto">
              <a:lnSpc>
                <a:spcPct val="100000"/>
              </a:lnSpc>
            </a:pPr>
            <a:r>
              <a:rPr lang="zh-CN" altLang="en-US" sz="2800">
                <a:sym typeface="+mn-ea"/>
              </a:rPr>
              <a:t>我们对博大精深的中国传统文化的了解。</a:t>
            </a:r>
            <a:endParaRPr lang="zh-CN" altLang="en-US" sz="2800">
              <a:sym typeface="+mn-ea"/>
            </a:endParaRPr>
          </a:p>
          <a:p>
            <a:pPr algn="l" fontAlgn="auto">
              <a:lnSpc>
                <a:spcPct val="100000"/>
              </a:lnSpc>
            </a:pPr>
            <a:r>
              <a:rPr lang="en-US" altLang="zh-CN" sz="2800"/>
              <a:t>     _____</a:t>
            </a:r>
            <a:r>
              <a:rPr lang="zh-CN" altLang="en-US" sz="2800"/>
              <a:t>总之，我相信你将会被它迷住。</a:t>
            </a:r>
            <a:r>
              <a:rPr lang="en-US" altLang="zh-CN" sz="2800"/>
              <a:t>Looking forward to your early reply.</a:t>
            </a:r>
            <a:endParaRPr lang="en-US" altLang="zh-CN" sz="2800"/>
          </a:p>
        </p:txBody>
      </p:sp>
    </p:spTree>
    <p:custDataLst>
      <p:tags r:id="rId1"/>
    </p:custDataLst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7480" y="0"/>
            <a:ext cx="11628120" cy="6384290"/>
          </a:xfrm>
        </p:spPr>
        <p:txBody>
          <a:bodyPr/>
          <a:p>
            <a:pPr algn="l" fontAlgn="auto">
              <a:lnSpc>
                <a:spcPct val="100000"/>
              </a:lnSpc>
            </a:pPr>
            <a:r>
              <a:rPr lang="en-US" altLang="zh-CN" sz="2800"/>
              <a:t>      </a:t>
            </a:r>
            <a:r>
              <a:rPr lang="en-US" sz="2800">
                <a:solidFill>
                  <a:schemeClr val="accent1"/>
                </a:solidFill>
              </a:rPr>
              <a:t>Informed</a:t>
            </a:r>
            <a:r>
              <a:rPr lang="en-US" altLang="zh-CN" sz="2800">
                <a:solidFill>
                  <a:schemeClr val="accent1"/>
                </a:solidFill>
              </a:rPr>
              <a:t> that</a:t>
            </a:r>
            <a:r>
              <a:rPr lang="en-US" altLang="zh-CN" sz="2800"/>
              <a:t> our school will hold an event</a:t>
            </a:r>
            <a:r>
              <a:rPr lang="en-US" altLang="zh-CN" sz="2800">
                <a:solidFill>
                  <a:schemeClr val="accent1"/>
                </a:solidFill>
              </a:rPr>
              <a:t> themed on </a:t>
            </a:r>
            <a:r>
              <a:rPr lang="en-US" altLang="zh-CN" sz="2800"/>
              <a:t>Tai Chi, I’m writing to invite you to it, </a:t>
            </a:r>
            <a:r>
              <a:rPr lang="en-US" altLang="zh-CN" sz="2800" u="sng">
                <a:solidFill>
                  <a:schemeClr val="tx1"/>
                </a:solidFill>
              </a:rPr>
              <a:t>which</a:t>
            </a:r>
            <a:r>
              <a:rPr lang="en-US" altLang="zh-CN" sz="2800">
                <a:solidFill>
                  <a:schemeClr val="accent1">
                    <a:lumMod val="60000"/>
                    <a:lumOff val="40000"/>
                  </a:schemeClr>
                </a:solidFill>
              </a:rPr>
              <a:t> is scheduled for </a:t>
            </a:r>
            <a:r>
              <a:rPr lang="en-US" altLang="zh-CN" sz="2800">
                <a:solidFill>
                  <a:schemeClr val="tx1"/>
                </a:solidFill>
              </a:rPr>
              <a:t>next Friday</a:t>
            </a:r>
            <a:r>
              <a:rPr lang="en-US" altLang="zh-CN" sz="2800">
                <a:solidFill>
                  <a:schemeClr val="accent1">
                    <a:lumMod val="60000"/>
                    <a:lumOff val="40000"/>
                  </a:schemeClr>
                </a:solidFill>
              </a:rPr>
              <a:t>/ </a:t>
            </a:r>
            <a:r>
              <a:rPr lang="en-US" altLang="zh-CN" sz="2800" u="sng">
                <a:solidFill>
                  <a:schemeClr val="tx1"/>
                </a:solidFill>
              </a:rPr>
              <a:t>which</a:t>
            </a:r>
            <a:r>
              <a:rPr lang="en-US" altLang="zh-CN" sz="2800">
                <a:solidFill>
                  <a:schemeClr val="accent1">
                    <a:lumMod val="60000"/>
                    <a:lumOff val="40000"/>
                  </a:schemeClr>
                </a:solidFill>
              </a:rPr>
              <a:t> is aimed at awakening our passion for the </a:t>
            </a:r>
            <a:r>
              <a:rPr lang="en-US" altLang="zh-CN" sz="2800">
                <a:solidFill>
                  <a:srgbClr val="FF0000"/>
                </a:solidFill>
              </a:rPr>
              <a:t>time-honored</a:t>
            </a:r>
            <a:r>
              <a:rPr lang="en-US" altLang="zh-CN" sz="2800">
                <a:solidFill>
                  <a:schemeClr val="accent1">
                    <a:lumMod val="60000"/>
                    <a:lumOff val="40000"/>
                  </a:schemeClr>
                </a:solidFill>
              </a:rPr>
              <a:t> practice.</a:t>
            </a:r>
            <a:endParaRPr lang="zh-CN" altLang="en-US" sz="2800">
              <a:solidFill>
                <a:schemeClr val="accent1">
                  <a:lumMod val="60000"/>
                  <a:lumOff val="40000"/>
                </a:schemeClr>
              </a:solidFill>
            </a:endParaRPr>
          </a:p>
          <a:p>
            <a:pPr algn="l" fontAlgn="auto">
              <a:lnSpc>
                <a:spcPct val="100000"/>
              </a:lnSpc>
            </a:pPr>
            <a:r>
              <a:rPr lang="zh-CN" altLang="en-US" sz="2800"/>
              <a:t> </a:t>
            </a:r>
            <a:r>
              <a:rPr lang="en-US" altLang="zh-CN" sz="2800"/>
              <a:t>      To begin with, </a:t>
            </a:r>
            <a:r>
              <a:rPr lang="en-US" altLang="zh-CN" sz="2800">
                <a:solidFill>
                  <a:srgbClr val="FF0000"/>
                </a:solidFill>
              </a:rPr>
              <a:t>an extinguished/a professional master</a:t>
            </a:r>
            <a:r>
              <a:rPr lang="en-US" altLang="zh-CN" sz="2800"/>
              <a:t> will </a:t>
            </a:r>
            <a:r>
              <a:rPr lang="en-US" altLang="zh-CN" sz="2800">
                <a:solidFill>
                  <a:srgbClr val="FF0000"/>
                </a:solidFill>
              </a:rPr>
              <a:t>deliver an engaging lecture</a:t>
            </a:r>
            <a:r>
              <a:rPr lang="en-US" altLang="zh-CN" sz="2800"/>
              <a:t> about Tai chi’ history and benefits to</a:t>
            </a:r>
            <a:r>
              <a:rPr lang="en-US" altLang="zh-CN" sz="2800">
                <a:solidFill>
                  <a:srgbClr val="FF0000"/>
                </a:solidFill>
              </a:rPr>
              <a:t> our physical and mental/ overall health</a:t>
            </a:r>
            <a:r>
              <a:rPr lang="en-US" altLang="zh-CN" sz="2800"/>
              <a:t>. </a:t>
            </a:r>
            <a:r>
              <a:rPr lang="en-US" sz="2800" u="sng">
                <a:solidFill>
                  <a:schemeClr val="tx1"/>
                </a:solidFill>
              </a:rPr>
              <a:t>Following is / Then comes</a:t>
            </a:r>
            <a:r>
              <a:rPr lang="en-US" altLang="zh-CN" sz="2800" u="sng">
                <a:solidFill>
                  <a:schemeClr val="tx1"/>
                </a:solidFill>
              </a:rPr>
              <a:t> </a:t>
            </a:r>
            <a:r>
              <a:rPr lang="en-US" altLang="zh-CN" sz="2800">
                <a:solidFill>
                  <a:srgbClr val="FF0000"/>
                </a:solidFill>
              </a:rPr>
              <a:t>a live/superb demonstration</a:t>
            </a:r>
            <a:r>
              <a:rPr lang="en-US" altLang="zh-CN" sz="2800"/>
              <a:t> to teach us some </a:t>
            </a:r>
            <a:r>
              <a:rPr lang="en-US" altLang="zh-CN" sz="2800">
                <a:solidFill>
                  <a:srgbClr val="FF0000"/>
                </a:solidFill>
              </a:rPr>
              <a:t>basic/easily-grasped moves</a:t>
            </a:r>
            <a:r>
              <a:rPr lang="en-US" altLang="zh-CN" sz="2800"/>
              <a:t>. The activity is </a:t>
            </a:r>
            <a:r>
              <a:rPr lang="en-US" altLang="zh-CN" sz="2800">
                <a:solidFill>
                  <a:srgbClr val="FF0000"/>
                </a:solidFill>
              </a:rPr>
              <a:t>absolutely meaningful/rewarding</a:t>
            </a:r>
            <a:r>
              <a:rPr lang="en-US" altLang="zh-CN" sz="2800"/>
              <a:t>. </a:t>
            </a:r>
            <a:r>
              <a:rPr lang="en-US" sz="2800"/>
              <a:t> </a:t>
            </a:r>
            <a:r>
              <a:rPr lang="en-US" altLang="zh-CN" sz="2800"/>
              <a:t> </a:t>
            </a:r>
            <a:r>
              <a:rPr lang="en-US" altLang="zh-CN" sz="2800" u="sng">
                <a:solidFill>
                  <a:schemeClr val="tx1"/>
                </a:solidFill>
              </a:rPr>
              <a:t>Not only  </a:t>
            </a:r>
            <a:r>
              <a:rPr lang="en-US" sz="2800" u="sng">
                <a:solidFill>
                  <a:schemeClr val="tx1"/>
                </a:solidFill>
              </a:rPr>
              <a:t>can we learn</a:t>
            </a:r>
            <a:r>
              <a:rPr lang="en-US" altLang="zh-CN" sz="2800">
                <a:solidFill>
                  <a:srgbClr val="FF0000"/>
                </a:solidFill>
              </a:rPr>
              <a:t>  an effective way</a:t>
            </a:r>
            <a:r>
              <a:rPr lang="en-US" altLang="zh-CN" sz="2800"/>
              <a:t> to </a:t>
            </a:r>
            <a:r>
              <a:rPr lang="en-US" altLang="zh-CN" sz="2800">
                <a:solidFill>
                  <a:schemeClr val="accent1"/>
                </a:solidFill>
              </a:rPr>
              <a:t>enhance our physical fitness</a:t>
            </a:r>
            <a:r>
              <a:rPr lang="en-US" altLang="zh-CN" sz="2800"/>
              <a:t>, </a:t>
            </a:r>
            <a:r>
              <a:rPr lang="en-US" altLang="zh-CN" sz="2800" u="sng">
                <a:solidFill>
                  <a:schemeClr val="tx1"/>
                </a:solidFill>
              </a:rPr>
              <a:t>but </a:t>
            </a:r>
            <a:r>
              <a:rPr lang="en-US" sz="2800" u="sng">
                <a:solidFill>
                  <a:schemeClr val="tx1"/>
                </a:solidFill>
              </a:rPr>
              <a:t>it will</a:t>
            </a:r>
            <a:r>
              <a:rPr lang="en-US" sz="2800">
                <a:solidFill>
                  <a:srgbClr val="00B0F0"/>
                </a:solidFill>
              </a:rPr>
              <a:t> </a:t>
            </a:r>
            <a:r>
              <a:rPr lang="en-US" sz="2800">
                <a:solidFill>
                  <a:schemeClr val="accent1"/>
                </a:solidFill>
              </a:rPr>
              <a:t>deepen our insight into</a:t>
            </a:r>
            <a:r>
              <a:rPr lang="en-US" sz="2800"/>
              <a:t> </a:t>
            </a:r>
            <a:r>
              <a:rPr lang="en-US" sz="2800">
                <a:solidFill>
                  <a:srgbClr val="FF0000"/>
                </a:solidFill>
              </a:rPr>
              <a:t>the profound</a:t>
            </a:r>
            <a:r>
              <a:rPr lang="en-US" sz="2800"/>
              <a:t> </a:t>
            </a:r>
            <a:r>
              <a:rPr lang="en-US" sz="2800">
                <a:solidFill>
                  <a:srgbClr val="FF0000"/>
                </a:solidFill>
              </a:rPr>
              <a:t>traditional </a:t>
            </a:r>
            <a:endParaRPr lang="zh-CN" altLang="en-US" sz="2800">
              <a:solidFill>
                <a:srgbClr val="FF0000"/>
              </a:solidFill>
              <a:sym typeface="+mn-ea"/>
            </a:endParaRPr>
          </a:p>
          <a:p>
            <a:pPr algn="l" fontAlgn="auto">
              <a:lnSpc>
                <a:spcPct val="100000"/>
              </a:lnSpc>
            </a:pPr>
            <a:r>
              <a:rPr lang="en-US" altLang="zh-CN" sz="2800">
                <a:solidFill>
                  <a:srgbClr val="FF0000"/>
                </a:solidFill>
                <a:sym typeface="+mn-ea"/>
              </a:rPr>
              <a:t>Chinese culture. </a:t>
            </a:r>
            <a:endParaRPr lang="zh-CN" altLang="en-US" sz="2800">
              <a:solidFill>
                <a:srgbClr val="FF0000"/>
              </a:solidFill>
              <a:sym typeface="+mn-ea"/>
            </a:endParaRPr>
          </a:p>
          <a:p>
            <a:pPr algn="l" fontAlgn="auto">
              <a:lnSpc>
                <a:spcPct val="100000"/>
              </a:lnSpc>
            </a:pPr>
            <a:r>
              <a:rPr lang="en-US" altLang="zh-CN" sz="2800"/>
              <a:t>     </a:t>
            </a:r>
            <a:r>
              <a:rPr lang="en-US" altLang="zh-CN" sz="2800" u="sng"/>
              <a:t>To sum up,</a:t>
            </a:r>
            <a:r>
              <a:rPr lang="en-US" altLang="zh-CN" sz="2800"/>
              <a:t> </a:t>
            </a:r>
            <a:r>
              <a:rPr lang="en-US" altLang="zh-CN" sz="2800">
                <a:solidFill>
                  <a:schemeClr val="accent1"/>
                </a:solidFill>
              </a:rPr>
              <a:t>I’m convinced that</a:t>
            </a:r>
            <a:r>
              <a:rPr lang="en-US" altLang="zh-CN" sz="2800"/>
              <a:t> you will </a:t>
            </a:r>
            <a:r>
              <a:rPr lang="en-US" altLang="zh-CN" sz="2800">
                <a:solidFill>
                  <a:schemeClr val="accent1"/>
                </a:solidFill>
              </a:rPr>
              <a:t>be fascinated by</a:t>
            </a:r>
            <a:r>
              <a:rPr lang="en-US" altLang="zh-CN" sz="2800"/>
              <a:t> it. Looking forward to your early reply.</a:t>
            </a:r>
            <a:endParaRPr lang="en-US" altLang="zh-CN" sz="2800"/>
          </a:p>
        </p:txBody>
      </p:sp>
    </p:spTree>
    <p:custDataLst>
      <p:tags r:id="rId1"/>
    </p:custDataLst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83185" y="-73660"/>
            <a:ext cx="11783695" cy="6619875"/>
          </a:xfrm>
          <a:prstGeom prst="rect">
            <a:avLst/>
          </a:prstGeom>
        </p:spPr>
        <p:txBody>
          <a:bodyPr>
            <a:noAutofit/>
          </a:bodyPr>
          <a:p>
            <a:pPr indent="266700" algn="just" defTabSz="266700" fontAlgn="auto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800">
                <a:highlight>
                  <a:srgbClr val="FFFF00"/>
                </a:highlight>
                <a:latin typeface="Times New Roman" panose="02020603050405020304"/>
                <a:ea typeface="宋体" panose="02010600030101010101" pitchFamily="2" charset="-122"/>
              </a:rPr>
              <a:t>.....I</a:t>
            </a:r>
            <a:r>
              <a:rPr lang="en-US" altLang="zh-CN" sz="2800">
                <a:latin typeface="Times New Roman" panose="02020603050405020304"/>
                <a:ea typeface="宋体" panose="02010600030101010101" pitchFamily="2" charset="-122"/>
              </a:rPr>
              <a:t> rang her immediately </a:t>
            </a:r>
            <a:r>
              <a:rPr lang="en-US" altLang="zh-CN" sz="2800">
                <a:latin typeface="Times New Roman" panose="02020603050405020304"/>
                <a:ea typeface="Times New Roman" panose="02020603050405020304"/>
              </a:rPr>
              <a:t>via</a:t>
            </a:r>
            <a:r>
              <a:rPr lang="en-US" altLang="zh-CN" sz="2800">
                <a:latin typeface="Times New Roman" panose="02020603050405020304"/>
                <a:ea typeface="宋体" panose="02010600030101010101" pitchFamily="2" charset="-122"/>
              </a:rPr>
              <a:t> a video call,</a:t>
            </a:r>
            <a:r>
              <a:rPr lang="en-US" altLang="zh-CN" sz="2800" u="sng">
                <a:latin typeface="Times New Roman" panose="02020603050405020304"/>
                <a:ea typeface="宋体" panose="02010600030101010101" pitchFamily="2" charset="-122"/>
              </a:rPr>
              <a:t> eager to learn the recipe for parippu</a:t>
            </a:r>
            <a:r>
              <a:rPr lang="zh-CN" altLang="en-US" sz="2800" u="sng">
                <a:latin typeface="Times New Roman" panose="02020603050405020304"/>
                <a:ea typeface="宋体" panose="02010600030101010101" pitchFamily="2" charset="-122"/>
              </a:rPr>
              <a:t>形容词做状语，描述</a:t>
            </a:r>
            <a:r>
              <a:rPr lang="zh-CN" altLang="en-US" sz="2800" u="sng">
                <a:highlight>
                  <a:srgbClr val="FFFF00"/>
                </a:highlight>
                <a:latin typeface="Times New Roman" panose="02020603050405020304"/>
                <a:ea typeface="宋体" panose="02010600030101010101" pitchFamily="2" charset="-122"/>
              </a:rPr>
              <a:t>主语</a:t>
            </a:r>
            <a:r>
              <a:rPr lang="en-US" altLang="zh-CN" sz="2800">
                <a:latin typeface="Times New Roman" panose="02020603050405020304"/>
                <a:ea typeface="宋体" panose="02010600030101010101" pitchFamily="2" charset="-122"/>
              </a:rPr>
              <a:t>. </a:t>
            </a:r>
            <a:r>
              <a:rPr lang="en-US" altLang="zh-CN" sz="2800">
                <a:highlight>
                  <a:srgbClr val="FFFF00"/>
                </a:highlight>
                <a:latin typeface="Times New Roman" panose="02020603050405020304"/>
                <a:ea typeface="宋体" panose="02010600030101010101" pitchFamily="2" charset="-122"/>
              </a:rPr>
              <a:t>She</a:t>
            </a:r>
            <a:r>
              <a:rPr lang="en-US" altLang="zh-CN" sz="2800">
                <a:latin typeface="Times New Roman" panose="02020603050405020304"/>
                <a:ea typeface="宋体" panose="02010600030101010101" pitchFamily="2" charset="-122"/>
              </a:rPr>
              <a:t> </a:t>
            </a:r>
            <a:r>
              <a:rPr lang="en-US" altLang="zh-CN" sz="2800">
                <a:solidFill>
                  <a:schemeClr val="accent1"/>
                </a:solidFill>
                <a:latin typeface="Times New Roman" panose="02020603050405020304"/>
                <a:ea typeface="宋体" panose="02010600030101010101" pitchFamily="2" charset="-122"/>
              </a:rPr>
              <a:t>walked me through </a:t>
            </a:r>
            <a:r>
              <a:rPr lang="en-US" altLang="zh-CN" sz="2800">
                <a:latin typeface="Times New Roman" panose="02020603050405020304"/>
                <a:ea typeface="宋体" panose="02010600030101010101" pitchFamily="2" charset="-122"/>
              </a:rPr>
              <a:t>every cooking step </a:t>
            </a:r>
            <a:r>
              <a:rPr lang="en-US" altLang="zh-CN" sz="2800">
                <a:solidFill>
                  <a:srgbClr val="FF0000"/>
                </a:solidFill>
                <a:latin typeface="Times New Roman" panose="02020603050405020304"/>
                <a:ea typeface="宋体" panose="02010600030101010101" pitchFamily="2" charset="-122"/>
              </a:rPr>
              <a:t>gently and patiently</a:t>
            </a:r>
            <a:r>
              <a:rPr lang="en-US" altLang="zh-CN" sz="2800">
                <a:latin typeface="Times New Roman" panose="02020603050405020304"/>
                <a:ea typeface="宋体" panose="02010600030101010101" pitchFamily="2" charset="-122"/>
              </a:rPr>
              <a:t>, </a:t>
            </a:r>
            <a:r>
              <a:rPr lang="en-US" altLang="zh-CN" sz="2800" u="sng">
                <a:latin typeface="Times New Roman" panose="02020603050405020304"/>
                <a:ea typeface="宋体" panose="02010600030101010101" pitchFamily="2" charset="-122"/>
              </a:rPr>
              <a:t>specifying the </a:t>
            </a:r>
            <a:r>
              <a:rPr lang="en-US" altLang="zh-CN" sz="2800" u="sng">
                <a:solidFill>
                  <a:srgbClr val="FF0000"/>
                </a:solidFill>
                <a:latin typeface="Times New Roman" panose="02020603050405020304"/>
                <a:ea typeface="宋体" panose="02010600030101010101" pitchFamily="2" charset="-122"/>
              </a:rPr>
              <a:t>exact </a:t>
            </a:r>
            <a:r>
              <a:rPr lang="en-US" altLang="zh-CN" sz="2800" u="sng">
                <a:latin typeface="Times New Roman" panose="02020603050405020304"/>
                <a:ea typeface="宋体" panose="02010600030101010101" pitchFamily="2" charset="-122"/>
              </a:rPr>
              <a:t>amount of lentils, coconut milk and eggs </a:t>
            </a:r>
            <a:r>
              <a:rPr lang="zh-CN" altLang="en-US" sz="2800" u="sng">
                <a:latin typeface="Times New Roman" panose="02020603050405020304"/>
                <a:ea typeface="宋体" panose="02010600030101010101" pitchFamily="2" charset="-122"/>
              </a:rPr>
              <a:t>非谓语动词做状语，要和</a:t>
            </a:r>
            <a:r>
              <a:rPr lang="zh-CN" altLang="en-US" sz="2800" u="sng">
                <a:highlight>
                  <a:srgbClr val="FFFF00"/>
                </a:highlight>
                <a:latin typeface="Times New Roman" panose="02020603050405020304"/>
                <a:ea typeface="宋体" panose="02010600030101010101" pitchFamily="2" charset="-122"/>
              </a:rPr>
              <a:t>主语</a:t>
            </a:r>
            <a:r>
              <a:rPr lang="zh-CN" altLang="en-US" sz="2800" u="sng">
                <a:latin typeface="Times New Roman" panose="02020603050405020304"/>
                <a:ea typeface="宋体" panose="02010600030101010101" pitchFamily="2" charset="-122"/>
              </a:rPr>
              <a:t>有主被动逻辑</a:t>
            </a:r>
            <a:r>
              <a:rPr lang="en-US" altLang="zh-CN" sz="2800">
                <a:latin typeface="Times New Roman" panose="02020603050405020304"/>
                <a:ea typeface="宋体" panose="02010600030101010101" pitchFamily="2" charset="-122"/>
              </a:rPr>
              <a:t>. I searched </a:t>
            </a:r>
            <a:r>
              <a:rPr lang="en-US" altLang="zh-CN" sz="2800">
                <a:solidFill>
                  <a:srgbClr val="FF0000"/>
                </a:solidFill>
                <a:latin typeface="Times New Roman" panose="02020603050405020304"/>
                <a:ea typeface="宋体" panose="02010600030101010101" pitchFamily="2" charset="-122"/>
              </a:rPr>
              <a:t>local </a:t>
            </a:r>
            <a:r>
              <a:rPr lang="en-US" altLang="zh-CN" sz="2800">
                <a:latin typeface="Times New Roman" panose="02020603050405020304"/>
                <a:ea typeface="宋体" panose="02010600030101010101" pitchFamily="2" charset="-122"/>
              </a:rPr>
              <a:t>supermarkets from shelf to shelf and finally tracked down all the </a:t>
            </a:r>
            <a:r>
              <a:rPr lang="en-US" altLang="zh-CN" sz="2800">
                <a:solidFill>
                  <a:srgbClr val="FF0000"/>
                </a:solidFill>
                <a:latin typeface="Times New Roman" panose="02020603050405020304"/>
                <a:ea typeface="宋体" panose="02010600030101010101" pitchFamily="2" charset="-122"/>
              </a:rPr>
              <a:t>required</a:t>
            </a:r>
            <a:r>
              <a:rPr lang="en-US" altLang="zh-CN" sz="2800">
                <a:latin typeface="Times New Roman" panose="02020603050405020304"/>
                <a:ea typeface="宋体" panose="02010600030101010101" pitchFamily="2" charset="-122"/>
              </a:rPr>
              <a:t> ingredients, </a:t>
            </a:r>
            <a:r>
              <a:rPr lang="en-US" altLang="zh-CN" sz="2800" u="sng">
                <a:latin typeface="Times New Roman" panose="02020603050405020304"/>
                <a:ea typeface="宋体" panose="02010600030101010101" pitchFamily="2" charset="-122"/>
              </a:rPr>
              <a:t>which</a:t>
            </a:r>
            <a:r>
              <a:rPr lang="en-US" altLang="zh-CN" sz="2800">
                <a:latin typeface="Times New Roman" panose="02020603050405020304"/>
                <a:ea typeface="宋体" panose="02010600030101010101" pitchFamily="2" charset="-122"/>
              </a:rPr>
              <a:t> I placed </a:t>
            </a:r>
            <a:r>
              <a:rPr lang="en-US" altLang="zh-CN" sz="2800">
                <a:solidFill>
                  <a:srgbClr val="FF0000"/>
                </a:solidFill>
                <a:latin typeface="Times New Roman" panose="02020603050405020304"/>
                <a:ea typeface="宋体" panose="02010600030101010101" pitchFamily="2" charset="-122"/>
              </a:rPr>
              <a:t>carefully</a:t>
            </a:r>
            <a:r>
              <a:rPr lang="en-US" altLang="zh-CN" sz="2800">
                <a:latin typeface="Times New Roman" panose="02020603050405020304"/>
                <a:ea typeface="宋体" panose="02010600030101010101" pitchFamily="2" charset="-122"/>
              </a:rPr>
              <a:t> into that </a:t>
            </a:r>
            <a:r>
              <a:rPr lang="en-US" altLang="zh-CN" sz="2800">
                <a:solidFill>
                  <a:srgbClr val="FF0000"/>
                </a:solidFill>
                <a:latin typeface="Times New Roman" panose="02020603050405020304"/>
                <a:ea typeface="宋体" panose="02010600030101010101" pitchFamily="2" charset="-122"/>
              </a:rPr>
              <a:t>worn</a:t>
            </a:r>
            <a:r>
              <a:rPr lang="en-US" altLang="zh-CN" sz="2800">
                <a:latin typeface="Times New Roman" panose="02020603050405020304"/>
                <a:ea typeface="宋体" panose="02010600030101010101" pitchFamily="2" charset="-122"/>
              </a:rPr>
              <a:t> pot with a </a:t>
            </a:r>
            <a:r>
              <a:rPr lang="en-US" altLang="zh-CN" sz="2800">
                <a:solidFill>
                  <a:srgbClr val="FF0000"/>
                </a:solidFill>
                <a:latin typeface="Times New Roman" panose="02020603050405020304"/>
                <a:ea typeface="宋体" panose="02010600030101010101" pitchFamily="2" charset="-122"/>
              </a:rPr>
              <a:t>slightly bent</a:t>
            </a:r>
            <a:r>
              <a:rPr lang="en-US" altLang="zh-CN" sz="2800">
                <a:latin typeface="Times New Roman" panose="02020603050405020304"/>
                <a:ea typeface="宋体" panose="02010600030101010101" pitchFamily="2" charset="-122"/>
              </a:rPr>
              <a:t> handle. I adjusted the heat </a:t>
            </a:r>
            <a:r>
              <a:rPr lang="en-US" altLang="zh-CN" sz="2800">
                <a:solidFill>
                  <a:srgbClr val="FF0000"/>
                </a:solidFill>
                <a:latin typeface="Times New Roman" panose="02020603050405020304"/>
                <a:ea typeface="宋体" panose="02010600030101010101" pitchFamily="2" charset="-122"/>
              </a:rPr>
              <a:t>repeatedly</a:t>
            </a:r>
            <a:r>
              <a:rPr lang="en-US" altLang="zh-CN" sz="2800">
                <a:latin typeface="Times New Roman" panose="02020603050405020304"/>
                <a:ea typeface="宋体" panose="02010600030101010101" pitchFamily="2" charset="-122"/>
              </a:rPr>
              <a:t> </a:t>
            </a:r>
            <a:r>
              <a:rPr lang="en-US" altLang="zh-CN" sz="2800">
                <a:solidFill>
                  <a:schemeClr val="accent1"/>
                </a:solidFill>
                <a:latin typeface="Times New Roman" panose="02020603050405020304"/>
                <a:ea typeface="宋体" panose="02010600030101010101" pitchFamily="2" charset="-122"/>
              </a:rPr>
              <a:t>as instructed</a:t>
            </a:r>
            <a:r>
              <a:rPr lang="en-US" altLang="zh-CN" sz="2800">
                <a:latin typeface="Times New Roman" panose="02020603050405020304"/>
                <a:ea typeface="宋体" panose="02010600030101010101" pitchFamily="2" charset="-122"/>
              </a:rPr>
              <a:t>. Soon, the </a:t>
            </a:r>
            <a:r>
              <a:rPr lang="en-US" altLang="zh-CN" sz="2800">
                <a:solidFill>
                  <a:srgbClr val="FF0000"/>
                </a:solidFill>
                <a:latin typeface="Times New Roman" panose="02020603050405020304"/>
                <a:ea typeface="宋体" panose="02010600030101010101" pitchFamily="2" charset="-122"/>
              </a:rPr>
              <a:t>familiar comforting</a:t>
            </a:r>
            <a:r>
              <a:rPr lang="en-US" altLang="zh-CN" sz="2800">
                <a:latin typeface="Times New Roman" panose="02020603050405020304"/>
                <a:ea typeface="宋体" panose="02010600030101010101" pitchFamily="2" charset="-122"/>
              </a:rPr>
              <a:t> aroma filled my </a:t>
            </a:r>
            <a:r>
              <a:rPr lang="en-US" altLang="zh-CN" sz="2800">
                <a:solidFill>
                  <a:srgbClr val="FF0000"/>
                </a:solidFill>
                <a:latin typeface="Times New Roman" panose="02020603050405020304"/>
                <a:ea typeface="宋体" panose="02010600030101010101" pitchFamily="2" charset="-122"/>
              </a:rPr>
              <a:t>tiny</a:t>
            </a:r>
            <a:r>
              <a:rPr lang="en-US" altLang="zh-CN" sz="2800">
                <a:latin typeface="Times New Roman" panose="02020603050405020304"/>
                <a:ea typeface="宋体" panose="02010600030101010101" pitchFamily="2" charset="-122"/>
              </a:rPr>
              <a:t> apartment. </a:t>
            </a:r>
            <a:r>
              <a:rPr lang="en-US" altLang="zh-CN" sz="2800">
                <a:solidFill>
                  <a:schemeClr val="accent1"/>
                </a:solidFill>
                <a:latin typeface="Times New Roman" panose="02020603050405020304"/>
                <a:ea typeface="宋体" panose="02010600030101010101" pitchFamily="2" charset="-122"/>
              </a:rPr>
              <a:t>A surge of warmth flooded my heart</a:t>
            </a:r>
            <a:r>
              <a:rPr lang="en-US" altLang="zh-CN" sz="2800">
                <a:latin typeface="Times New Roman" panose="02020603050405020304"/>
                <a:ea typeface="宋体" panose="02010600030101010101" pitchFamily="2" charset="-122"/>
              </a:rPr>
              <a:t>, </a:t>
            </a:r>
            <a:r>
              <a:rPr lang="en-US" altLang="zh-CN" sz="2800" u="sng">
                <a:latin typeface="Times New Roman" panose="02020603050405020304"/>
                <a:ea typeface="宋体" panose="02010600030101010101" pitchFamily="2" charset="-122"/>
              </a:rPr>
              <a:t>dragging me back to the</a:t>
            </a:r>
            <a:r>
              <a:rPr lang="en-US" altLang="zh-CN" sz="2800" u="sng">
                <a:solidFill>
                  <a:srgbClr val="FF0000"/>
                </a:solidFill>
                <a:latin typeface="Times New Roman" panose="02020603050405020304"/>
                <a:ea typeface="宋体" panose="02010600030101010101" pitchFamily="2" charset="-122"/>
              </a:rPr>
              <a:t> cozy</a:t>
            </a:r>
            <a:r>
              <a:rPr lang="en-US" altLang="zh-CN" sz="2800" u="sng">
                <a:latin typeface="Times New Roman" panose="02020603050405020304"/>
                <a:ea typeface="宋体" panose="02010600030101010101" pitchFamily="2" charset="-122"/>
              </a:rPr>
              <a:t> Sunday afternoons back in Colombo.</a:t>
            </a:r>
            <a:endParaRPr lang="en-US" altLang="zh-CN" sz="2800" u="sng">
              <a:latin typeface="Times New Roman" panose="02020603050405020304"/>
              <a:ea typeface="宋体" panose="02010600030101010101" pitchFamily="2" charset="-122"/>
            </a:endParaRPr>
          </a:p>
          <a:p>
            <a:pPr indent="266700" algn="just" defTabSz="266700" fontAlgn="auto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800" i="1">
                <a:latin typeface="Times New Roman" panose="02020603050405020304"/>
                <a:ea typeface="宋体" panose="02010600030101010101" pitchFamily="2" charset="-122"/>
              </a:rPr>
              <a:t>.....</a:t>
            </a:r>
            <a:r>
              <a:rPr lang="en-US" altLang="zh-CN" sz="2800">
                <a:latin typeface="Times New Roman" panose="02020603050405020304"/>
                <a:ea typeface="宋体" panose="02010600030101010101" pitchFamily="2" charset="-122"/>
              </a:rPr>
              <a:t>They arrived soon and were amazed by the </a:t>
            </a:r>
            <a:r>
              <a:rPr lang="en-US" altLang="zh-CN" sz="2800">
                <a:solidFill>
                  <a:srgbClr val="FF0000"/>
                </a:solidFill>
                <a:latin typeface="Times New Roman" panose="02020603050405020304"/>
                <a:ea typeface="宋体" panose="02010600030101010101" pitchFamily="2" charset="-122"/>
              </a:rPr>
              <a:t>inviting</a:t>
            </a:r>
            <a:r>
              <a:rPr lang="en-US" altLang="zh-CN" sz="2800">
                <a:latin typeface="Times New Roman" panose="02020603050405020304"/>
                <a:ea typeface="宋体" panose="02010600030101010101" pitchFamily="2" charset="-122"/>
              </a:rPr>
              <a:t> smell of our hometown dish. </a:t>
            </a:r>
            <a:r>
              <a:rPr lang="en-US" altLang="zh-CN" sz="2800" u="sng">
                <a:latin typeface="Times New Roman" panose="02020603050405020304"/>
                <a:ea typeface="宋体" panose="02010600030101010101" pitchFamily="2" charset="-122"/>
              </a:rPr>
              <a:t>The instant they took a bite</a:t>
            </a:r>
            <a:r>
              <a:rPr lang="en-US" altLang="zh-CN" sz="2800">
                <a:latin typeface="Times New Roman" panose="02020603050405020304"/>
                <a:ea typeface="宋体" panose="02010600030101010101" pitchFamily="2" charset="-122"/>
              </a:rPr>
              <a:t>, </a:t>
            </a:r>
            <a:r>
              <a:rPr lang="en-US" altLang="zh-CN" sz="2800">
                <a:solidFill>
                  <a:schemeClr val="accent1"/>
                </a:solidFill>
                <a:latin typeface="Times New Roman" panose="02020603050405020304"/>
                <a:ea typeface="宋体" panose="02010600030101010101" pitchFamily="2" charset="-122"/>
              </a:rPr>
              <a:t>their eyes lit up with delight.</a:t>
            </a:r>
            <a:r>
              <a:rPr lang="en-US" altLang="zh-CN" sz="2800">
                <a:latin typeface="Times New Roman" panose="02020603050405020304"/>
                <a:ea typeface="宋体" panose="02010600030101010101" pitchFamily="2" charset="-122"/>
              </a:rPr>
              <a:t> We sat around the pot,</a:t>
            </a:r>
            <a:r>
              <a:rPr lang="en-US" altLang="zh-CN" sz="2800" u="sng">
                <a:latin typeface="Times New Roman" panose="02020603050405020304"/>
                <a:ea typeface="宋体" panose="02010600030101010101" pitchFamily="2" charset="-122"/>
              </a:rPr>
              <a:t> chattin</a:t>
            </a:r>
            <a:r>
              <a:rPr lang="en-US" altLang="zh-CN" sz="2800">
                <a:latin typeface="Times New Roman" panose="02020603050405020304"/>
                <a:ea typeface="宋体" panose="02010600030101010101" pitchFamily="2" charset="-122"/>
              </a:rPr>
              <a:t>g freely about our family and the happy days </a:t>
            </a:r>
            <a:r>
              <a:rPr lang="en-US" altLang="zh-CN" sz="2800" u="sng">
                <a:latin typeface="Times New Roman" panose="02020603050405020304"/>
                <a:ea typeface="宋体" panose="02010600030101010101" pitchFamily="2" charset="-122"/>
              </a:rPr>
              <a:t>we once shared</a:t>
            </a:r>
            <a:r>
              <a:rPr lang="en-US" altLang="zh-CN" sz="2800">
                <a:latin typeface="Times New Roman" panose="02020603050405020304"/>
                <a:ea typeface="宋体" panose="02010600030101010101" pitchFamily="2" charset="-122"/>
              </a:rPr>
              <a:t>. The heavy sense of being lost in a foreign country faded away little by little. That old pot was </a:t>
            </a:r>
            <a:r>
              <a:rPr lang="en-US" altLang="zh-CN" sz="2800">
                <a:solidFill>
                  <a:schemeClr val="accent1"/>
                </a:solidFill>
                <a:latin typeface="Times New Roman" panose="02020603050405020304"/>
                <a:ea typeface="宋体" panose="02010600030101010101" pitchFamily="2" charset="-122"/>
              </a:rPr>
              <a:t>far more than </a:t>
            </a:r>
            <a:r>
              <a:rPr lang="en-US" altLang="zh-CN" sz="2800">
                <a:latin typeface="Times New Roman" panose="02020603050405020304"/>
                <a:ea typeface="宋体" panose="02010600030101010101" pitchFamily="2" charset="-122"/>
              </a:rPr>
              <a:t>a cooker. It </a:t>
            </a:r>
            <a:r>
              <a:rPr lang="en-US" altLang="zh-CN" sz="2800">
                <a:solidFill>
                  <a:schemeClr val="accent1"/>
                </a:solidFill>
                <a:latin typeface="Times New Roman" panose="02020603050405020304"/>
                <a:ea typeface="宋体" panose="02010600030101010101" pitchFamily="2" charset="-122"/>
              </a:rPr>
              <a:t>served as a </a:t>
            </a:r>
            <a:r>
              <a:rPr lang="en-US" altLang="zh-CN" sz="2800">
                <a:solidFill>
                  <a:srgbClr val="FF0000"/>
                </a:solidFill>
                <a:latin typeface="Times New Roman" panose="02020603050405020304"/>
                <a:ea typeface="宋体" panose="02010600030101010101" pitchFamily="2" charset="-122"/>
              </a:rPr>
              <a:t>tender</a:t>
            </a:r>
            <a:r>
              <a:rPr lang="en-US" altLang="zh-CN" sz="2800">
                <a:solidFill>
                  <a:schemeClr val="accent1"/>
                </a:solidFill>
                <a:latin typeface="Times New Roman" panose="02020603050405020304"/>
                <a:ea typeface="宋体" panose="02010600030101010101" pitchFamily="2" charset="-122"/>
              </a:rPr>
              <a:t> bridge connecting</a:t>
            </a:r>
            <a:r>
              <a:rPr lang="en-US" altLang="zh-CN" sz="2800">
                <a:latin typeface="Times New Roman" panose="02020603050405020304"/>
                <a:ea typeface="宋体" panose="02010600030101010101" pitchFamily="2" charset="-122"/>
              </a:rPr>
              <a:t> us </a:t>
            </a:r>
            <a:r>
              <a:rPr lang="en-US" altLang="zh-CN" sz="2800">
                <a:solidFill>
                  <a:schemeClr val="accent1"/>
                </a:solidFill>
                <a:latin typeface="Times New Roman" panose="02020603050405020304"/>
                <a:ea typeface="宋体" panose="02010600030101010101" pitchFamily="2" charset="-122"/>
              </a:rPr>
              <a:t>with</a:t>
            </a:r>
            <a:r>
              <a:rPr lang="en-US" altLang="zh-CN" sz="2800">
                <a:latin typeface="Times New Roman" panose="02020603050405020304"/>
                <a:ea typeface="宋体" panose="02010600030101010101" pitchFamily="2" charset="-122"/>
              </a:rPr>
              <a:t> our hometown and brought us </a:t>
            </a:r>
            <a:r>
              <a:rPr lang="en-US" altLang="zh-CN" sz="2800">
                <a:solidFill>
                  <a:srgbClr val="FF0000"/>
                </a:solidFill>
                <a:latin typeface="Times New Roman" panose="02020603050405020304"/>
                <a:ea typeface="宋体" panose="02010600030101010101" pitchFamily="2" charset="-122"/>
              </a:rPr>
              <a:t>precious </a:t>
            </a:r>
            <a:r>
              <a:rPr lang="en-US" altLang="zh-CN" sz="2800">
                <a:latin typeface="Times New Roman" panose="02020603050405020304"/>
                <a:ea typeface="宋体" panose="02010600030101010101" pitchFamily="2" charset="-122"/>
              </a:rPr>
              <a:t>comfort and</a:t>
            </a:r>
            <a:r>
              <a:rPr lang="en-US" altLang="zh-CN" sz="2800">
                <a:solidFill>
                  <a:schemeClr val="accent1"/>
                </a:solidFill>
                <a:latin typeface="Times New Roman" panose="02020603050405020304"/>
                <a:ea typeface="宋体" panose="02010600030101010101" pitchFamily="2" charset="-122"/>
              </a:rPr>
              <a:t> a sense of belonging</a:t>
            </a:r>
            <a:r>
              <a:rPr lang="en-US" altLang="zh-CN" sz="2800">
                <a:latin typeface="Times New Roman" panose="02020603050405020304"/>
                <a:ea typeface="宋体" panose="02010600030101010101" pitchFamily="2" charset="-122"/>
              </a:rPr>
              <a:t> in this </a:t>
            </a:r>
            <a:r>
              <a:rPr lang="en-US" altLang="zh-CN" sz="2800">
                <a:solidFill>
                  <a:srgbClr val="FF0000"/>
                </a:solidFill>
                <a:latin typeface="Times New Roman" panose="02020603050405020304"/>
                <a:ea typeface="宋体" panose="02010600030101010101" pitchFamily="2" charset="-122"/>
              </a:rPr>
              <a:t>strange </a:t>
            </a:r>
            <a:r>
              <a:rPr lang="en-US" altLang="zh-CN" sz="2800">
                <a:latin typeface="Times New Roman" panose="02020603050405020304"/>
                <a:ea typeface="宋体" panose="02010600030101010101" pitchFamily="2" charset="-122"/>
              </a:rPr>
              <a:t>city.</a:t>
            </a:r>
            <a:endParaRPr lang="en-US" altLang="zh-CN" sz="2800">
              <a:latin typeface="Times New Roman" panose="02020603050405020304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/>
</p:sld>
</file>

<file path=ppt/tags/tag1.xml><?xml version="1.0" encoding="utf-8"?>
<p:tagLst xmlns:p="http://schemas.openxmlformats.org/presentationml/2006/main">
  <p:tag name="KSO_WM_NEW_CREATE" val="1"/>
</p:tagLst>
</file>

<file path=ppt/tags/tag2.xml><?xml version="1.0" encoding="utf-8"?>
<p:tagLst xmlns:p="http://schemas.openxmlformats.org/presentationml/2006/main">
  <p:tag name="KSO_WM_NEW_CREATE" val="1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2514</Words>
  <Application>WPS 演示</Application>
  <PresentationFormat>宽屏</PresentationFormat>
  <Paragraphs>19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11" baseType="lpstr">
      <vt:lpstr>Arial</vt:lpstr>
      <vt:lpstr>宋体</vt:lpstr>
      <vt:lpstr>Wingdings</vt:lpstr>
      <vt:lpstr>Times New Roman</vt:lpstr>
      <vt:lpstr>Calibri</vt:lpstr>
      <vt:lpstr>微软雅黑</vt:lpstr>
      <vt:lpstr>Arial Unicode MS</vt:lpstr>
      <vt:lpstr>WPS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彭雨</cp:lastModifiedBy>
  <cp:revision>9</cp:revision>
  <dcterms:created xsi:type="dcterms:W3CDTF">2023-08-09T12:44:00Z</dcterms:created>
  <dcterms:modified xsi:type="dcterms:W3CDTF">2026-10-30T00:41:40Z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2052-12.1.0.29161</vt:lpwstr>
  </property>
  <property fmtid="{D5CDD505-2E9C-101B-9397-08002B2CF9AE}" pid="3" name="ICV">
    <vt:lpwstr>07CDD0EAE8234CD98056C547BFA42F87_13</vt:lpwstr>
  </property>
</Properties>
</file>